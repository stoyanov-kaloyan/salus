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webp" ContentType="image/webp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3" Type="http://schemas.openxmlformats.org/officeDocument/2006/relationships/viewProps" Target="viewProps.xml" /><Relationship Id="rId1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5" Type="http://schemas.openxmlformats.org/officeDocument/2006/relationships/tableStyles" Target="tableStyles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webp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2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4.png" /><Relationship Id="rId2" Type="http://schemas.openxmlformats.org/officeDocument/2006/relationships/image" Target="../media/image3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6.png" /><Relationship Id="rId2" Type="http://schemas.openxmlformats.org/officeDocument/2006/relationships/image" Target="../media/image5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SALUS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AI Content Safety · Хакатон презентация (8 мин)</a:t>
            </a:r>
            <a:br/>
            <a:br/>
            <a:r>
              <a:rPr/>
              <a:t>FMI{CODES}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Проблемът</a:t>
            </a:r>
          </a:p>
        </p:txBody>
      </p:sp>
      <p:pic>
        <p:nvPicPr>
          <p:cNvPr descr="assets/ai-usage-chart.webp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32000" y="1193800"/>
            <a:ext cx="5080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Какво изградихме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Решение</a:t>
            </a:r>
          </a:p>
          <a:p>
            <a:pPr lvl="0"/>
            <a:r>
              <a:rPr/>
              <a:t>Един endpoint: </a:t>
            </a:r>
            <a:r>
              <a:rPr>
                <a:latin typeface="Courier"/>
              </a:rPr>
              <a:t>/detect/image</a:t>
            </a:r>
          </a:p>
          <a:p>
            <a:pPr lvl="0"/>
            <a:r>
              <a:rPr/>
              <a:t>Три независими модела в паралел:</a:t>
            </a:r>
          </a:p>
          <a:p>
            <a:pPr lvl="1"/>
            <a:r>
              <a:rPr/>
              <a:t>Deepfake (ResNet-18)</a:t>
            </a:r>
          </a:p>
          <a:p>
            <a:pPr lvl="1"/>
            <a:r>
              <a:rPr/>
              <a:t>NSFW</a:t>
            </a:r>
          </a:p>
          <a:p>
            <a:pPr lvl="1"/>
            <a:r>
              <a:rPr/>
              <a:t>Flux (SigLIP)</a:t>
            </a:r>
          </a:p>
          <a:p>
            <a:pPr lvl="0"/>
            <a:r>
              <a:rPr/>
              <a:t>UI за live threat feed + страница „Try It“</a:t>
            </a:r>
          </a:p>
          <a:p>
            <a:pPr lvl="0" indent="0" marL="0">
              <a:buNone/>
            </a:pPr>
            <a:r>
              <a:rPr/>
              <a:t>Приоритетът е надежден сигнал и ясна интерпретация, а не „черна кутия“.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</a:p>
        </p:txBody>
      </p:sp>
      <p:pic>
        <p:nvPicPr>
          <p:cNvPr descr="salus_presentation_files\figure-pptx\mermaid-figure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889500" y="1625600"/>
            <a:ext cx="3530600" cy="2959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Как обучихме Deepfake модела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Тренировъчен pipeline</a:t>
                </a:r>
              </a:p>
              <a:p>
                <a:pPr lvl="0"/>
                <a:r>
                  <a:rPr/>
                  <a:t>Данни: Kaggle </a:t>
                </a:r>
                <a:r>
                  <a:rPr>
                    <a:latin typeface="Courier"/>
                  </a:rPr>
                  <a:t>muhammadbilal6305/200k-real-vs-ai-visuals-by-mbilal</a:t>
                </a:r>
              </a:p>
              <a:p>
                <a:pPr lvl="0"/>
                <a:r>
                  <a:rPr/>
                  <a:t>Stratified split: 80/20 (validation = </a:t>
                </a:r>
                <a14:m>
                  <m:oMath xmlns:m="http://schemas.openxmlformats.org/officeDocument/2006/math">
                    <m:r>
                      <m:t>20</m:t>
                    </m:r>
                    <m:r>
                      <m:rPr>
                        <m:sty m:val="p"/>
                      </m:rPr>
                      <m:t>%</m:t>
                    </m:r>
                  </m:oMath>
                </a14:m>
                <a:r>
                  <a:rPr/>
                  <a:t>)</a:t>
                </a:r>
              </a:p>
              <a:p>
                <a:pPr lvl="0"/>
                <a:r>
                  <a:rPr/>
                  <a:t>Backbone: pretrained ResNet-18, бинарен head (</a:t>
                </a:r>
                <a14:m>
                  <m:oMath xmlns:m="http://schemas.openxmlformats.org/officeDocument/2006/math">
                    <m:r>
                      <m:t>512</m:t>
                    </m:r>
                    <m:r>
                      <m:rPr>
                        <m:sty m:val="p"/>
                      </m:rPr>
                      <m:t>→</m:t>
                    </m:r>
                    <m:r>
                      <m:t>1</m:t>
                    </m:r>
                  </m:oMath>
                </a14:m>
                <a:r>
                  <a:rPr/>
                  <a:t>)</a:t>
                </a:r>
              </a:p>
              <a:p>
                <a:pPr lvl="0"/>
                <a:r>
                  <a:rPr/>
                  <a:t>Loss: BCEWithLogitsLoss + </a:t>
                </a:r>
                <a:r>
                  <a:rPr>
                    <a:latin typeface="Courier"/>
                  </a:rPr>
                  <a:t>pos_weight</a:t>
                </a:r>
              </a:p>
              <a:p>
                <a:pPr lvl="0"/>
                <a:r>
                  <a:rPr/>
                  <a:t>Optimizer: AdamW, </a:t>
                </a:r>
                <a14:m>
                  <m:oMath xmlns:m="http://schemas.openxmlformats.org/officeDocument/2006/math">
                    <m:r>
                      <m:t>l</m:t>
                    </m:r>
                    <m:r>
                      <m:t>r</m:t>
                    </m:r>
                    <m:r>
                      <m:rPr>
                        <m:sty m:val="p"/>
                      </m:rPr>
                      <m:t>=</m:t>
                    </m:r>
                    <m:r>
                      <m:t>3</m:t>
                    </m:r>
                    <m:r>
                      <m:rPr>
                        <m:sty m:val="p"/>
                      </m:rPr>
                      <m:t>⋅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4</m:t>
                        </m:r>
                      </m:sup>
                    </m:sSup>
                  </m:oMath>
                </a14:m>
                <a:r>
                  <a:rPr/>
                  <a:t>, weight decay </a:t>
                </a:r>
                <a14:m>
                  <m:oMath xmlns:m="http://schemas.openxmlformats.org/officeDocument/2006/math"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4</m:t>
                        </m:r>
                      </m:sup>
                    </m:sSup>
                  </m:oMath>
                </a14:m>
              </a:p>
              <a:p>
                <a:pPr lvl="0"/>
                <a:r>
                  <a:rPr/>
                  <a:t>Аугментации: RandomResizedCrop, HorizontalFlip, ColorJitter</a:t>
                </a:r>
              </a:p>
              <a:p>
                <a:pPr lvl="0"/>
                <a:r>
                  <a:rPr/>
                  <a:t>Запазваме checkpoint с най-добър validation </a:t>
                </a:r>
                <a14:m>
                  <m:oMath xmlns:m="http://schemas.openxmlformats.org/officeDocument/2006/math">
                    <m:sSub>
                      <m:e>
                        <m:r>
                          <m:t>F</m:t>
                        </m:r>
                      </m:e>
                      <m:sub>
                        <m:r>
                          <m:t>1</m:t>
                        </m:r>
                      </m:sub>
                    </m:sSub>
                  </m:oMath>
                </a14:m>
              </a:p>
              <a:p>
                <a:pPr lvl="0" indent="0" marL="0">
                  <a:buNone/>
                </a:pPr>
                <a:r>
                  <a:rPr/>
                  <a:t>[ p(y=1x)=(f_(x)), </a:t>
                </a:r>
                <a:r>
                  <a:rPr i="1"/>
                  <a:t>{}=-</a:t>
                </a:r>
                <a:r>
                  <a:rPr/>
                  <a:t>{i=1}^{N}]</a:t>
                </a:r>
              </a:p>
            </p:txBody>
          </p:sp>
        </mc:Choice>
      </mc:AlternateContent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Какво показват данните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Оценени изображения</a:t>
            </a:r>
          </a:p>
          <a:p>
            <a:pPr lvl="0" indent="0" marL="0">
              <a:buNone/>
            </a:pPr>
            <a:r>
              <a:rPr/>
              <a:t>40</a:t>
            </a:r>
          </a:p>
          <a:p>
            <a:pPr lvl="0" indent="0" marL="0">
              <a:buNone/>
            </a:pPr>
            <a:r>
              <a:rPr/>
              <a:t>Real</a:t>
            </a:r>
          </a:p>
          <a:p>
            <a:pPr lvl="0" indent="0" marL="0">
              <a:buNone/>
            </a:pPr>
            <a:r>
              <a:rPr/>
              <a:t>20</a:t>
            </a:r>
          </a:p>
          <a:p>
            <a:pPr lvl="0" indent="0" marL="0">
              <a:buNone/>
            </a:pPr>
            <a:r>
              <a:rPr/>
              <a:t>AI</a:t>
            </a:r>
          </a:p>
          <a:p>
            <a:pPr lvl="0" indent="0" marL="0">
              <a:buNone/>
            </a:pPr>
            <a:r>
              <a:rPr/>
              <a:t>20</a:t>
            </a:r>
          </a:p>
          <a:p>
            <a:pPr lvl="0" indent="0" marL="0">
              <a:buNone/>
            </a:pPr>
            <a:r>
              <a:rPr/>
              <a:t>Best F1 (demo sample)</a:t>
            </a:r>
          </a:p>
          <a:p>
            <a:pPr lvl="0" indent="0" marL="0">
              <a:buNone/>
            </a:pPr>
            <a:r>
              <a:rPr/>
              <a:t>0.714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class_balanc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625600"/>
            <a:ext cx="4038600" cy="2527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assets/score_distribution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648200" y="1651000"/>
            <a:ext cx="4038600" cy="246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Резултати и tuning на праг</a:t>
            </a:r>
          </a:p>
        </p:txBody>
      </p:sp>
      <p:pic>
        <p:nvPicPr>
          <p:cNvPr descr="assets/threshold_tradeoff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651000"/>
            <a:ext cx="4038600" cy="246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assets/confusion_matrix_best_threshold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813300" y="1193800"/>
            <a:ext cx="3695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Как протича демото на живо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Качваме изображение в страницата “Try It”.</a:t>
            </a:r>
          </a:p>
          <a:p>
            <a:pPr lvl="0" indent="-342900" marL="342900">
              <a:buAutoNum type="arabicPeriod"/>
            </a:pPr>
            <a:r>
              <a:rPr/>
              <a:t>Пускаме паралелно deepfake + nsfw + flux.</a:t>
            </a:r>
          </a:p>
          <a:p>
            <a:pPr lvl="0" indent="-342900" marL="342900">
              <a:buAutoNum type="arabicPeriod"/>
            </a:pPr>
            <a:r>
              <a:rPr/>
              <a:t>Връщаме структуриран JSON с per-model score и label.</a:t>
            </a:r>
          </a:p>
          <a:p>
            <a:pPr lvl="0" indent="-342900" marL="342900">
              <a:buAutoNum type="arabicPeriod"/>
            </a:pPr>
            <a:r>
              <a:rPr/>
              <a:t>Показваме събитието в dashboard threat feed.</a:t>
            </a:r>
          </a:p>
          <a:p>
            <a:pPr lvl="0" indent="0" marL="0">
              <a:buNone/>
            </a:pPr>
            <a:r>
              <a:rPr/>
              <a:t>[ y_{global}=(y_{deepfake},y_{nsfw},y_{flux}) ]</a:t>
            </a:r>
          </a:p>
          <a:p>
            <a:pPr lvl="0" indent="0" marL="0">
              <a:buNone/>
            </a:pPr>
            <a:r>
              <a:rPr/>
              <a:t>Всеки анализ се логва с SHA-256 хеш за проследимост и analytics.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Roadmap след хакатона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Какво следва</a:t>
            </a:r>
          </a:p>
          <a:p>
            <a:pPr lvl="0"/>
            <a:r>
              <a:rPr/>
              <a:t>Два режима на праг: </a:t>
            </a:r>
            <a:r>
              <a:rPr>
                <a:latin typeface="Courier"/>
              </a:rPr>
              <a:t>strict</a:t>
            </a:r>
            <a:r>
              <a:rPr/>
              <a:t> и </a:t>
            </a:r>
            <a:r>
              <a:rPr>
                <a:latin typeface="Courier"/>
              </a:rPr>
              <a:t>balanced</a:t>
            </a:r>
          </a:p>
          <a:p>
            <a:pPr lvl="0"/>
            <a:r>
              <a:rPr/>
              <a:t>По-голям validation benchmark + калибрация по домейн</a:t>
            </a:r>
          </a:p>
          <a:p>
            <a:pPr lvl="0"/>
            <a:r>
              <a:rPr/>
              <a:t>Drift и latency мониторинг в production</a:t>
            </a:r>
          </a:p>
          <a:p>
            <a:pPr lvl="0"/>
            <a:r>
              <a:rPr/>
              <a:t>Policy слой за автоматични действия при висок риск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Благодарим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Въпроси?</a:t>
            </a:r>
          </a:p>
          <a:p>
            <a:pPr lvl="0" indent="0" marL="0">
              <a:buNone/>
            </a:pPr>
            <a:r>
              <a:rPr/>
              <a:t>Контакт: екип SALUS, FMI{CODES}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SALUS</dc:title>
  <dc:creator>FMI{CODES}</dc:creator>
  <cp:keywords/>
  <dcterms:created xsi:type="dcterms:W3CDTF">2026-03-15T09:02:20Z</dcterms:created>
  <dcterms:modified xsi:type="dcterms:W3CDTF">2026-03-15T09:02:20Z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execute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subtitle">
    <vt:lpwstr>AI Content Safety · Хакатон презентация (8 мин)</vt:lpwstr>
  </property>
  <property fmtid="{D5CDD505-2E9C-101B-9397-08002B2CF9AE}" pid="12" name="toc-title">
    <vt:lpwstr>Съдържание</vt:lpwstr>
  </property>
</Properties>
</file>